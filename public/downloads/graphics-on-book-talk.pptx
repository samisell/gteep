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57" r:id="rId3"/>
    <p:sldId id="327" r:id="rId4"/>
    <p:sldId id="326" r:id="rId5"/>
    <p:sldId id="328" r:id="rId6"/>
    <p:sldId id="325" r:id="rId7"/>
    <p:sldId id="310" r:id="rId8"/>
    <p:sldId id="258" r:id="rId9"/>
    <p:sldId id="323" r:id="rId10"/>
    <p:sldId id="306" r:id="rId11"/>
    <p:sldId id="3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643"/>
  </p:normalViewPr>
  <p:slideViewPr>
    <p:cSldViewPr snapToGrid="0">
      <p:cViewPr varScale="1">
        <p:scale>
          <a:sx n="88" d="100"/>
          <a:sy n="88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E21F-360F-F94C-6DF1-21BD3215D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2C8A0-FD06-F7F9-4812-E971AAB69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B0645-ACBD-BF2B-4098-FFA49CA5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06040-8860-D261-5B0F-3D47A3B01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C814F-20D1-644F-C4B7-D36DD4D0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4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D96F9-41DD-33A0-3DA8-24FF50E6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1FF0D-0D7C-2C56-D3F4-22383A128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C4E78-BE8B-C159-9E65-8A3AEBD3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6509F-0B77-8CDD-44E4-681BDC6B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5AE00-E0E9-280C-47C3-586486D3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3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B88C-10AA-6A11-2B88-0B6BC2012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B3D76-2E83-0F9D-CB32-3AF864A9F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D321A-510E-654C-D40E-DF71689F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E4296-8E0D-06D0-06E9-26A1D3F8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AA80B-5069-3B25-2EEF-2B0B1C41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80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013E-C54C-9271-1353-4832DA11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6C39C-2DA9-A6CA-6C64-73E7F2C14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87AD8-4A8A-8469-CB06-A2AA109AC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9735A-F453-9CDA-A09F-8C785D0A0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094C3-E338-EC0F-B13D-C4FE9FBB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5DE1B-1C91-4316-B1C4-F8590891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97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2E29D-23E2-DA69-9EB3-D45861F9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7974-C3DD-9EF9-AEFD-5DBBAC044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B3029-5752-E63E-75D7-605E11868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FB19C-A4F2-6A55-2CD8-C5BF84FB9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DD14A-237C-BBC1-4F94-027882E19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FE8232-747D-85F8-C174-4A361FE8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206F7-46E2-DEA1-4973-28061AAF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D59EDC-A6EA-5E5C-9831-AB744F96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87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62AD-193E-952A-C8BC-C0989842C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B0CA8-6FC4-1596-7ED2-00D092B6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4FC6B-E2DA-637E-9966-D8C44B75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F367C-507C-281B-9D79-8FF9D50B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47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91660-A7E9-8820-C186-14A0F778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691F3-505B-4C99-8BFD-29F780F0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84C53-EE3D-8FFC-4ACA-3DC8EA3E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5FDD-62BE-3F85-0452-FAD2DC17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B540-283E-81AA-38C8-79E833B31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1E4D1-07C4-4451-235F-34D726C92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15EC5-91AF-69CB-0975-4C5C22D1C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84401-A15B-594C-4D7E-0BF78B4D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DC556-412A-C50D-FAA9-6422DAFB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7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95AA-87C0-3B72-BFAF-8C1DEA87F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39CF1-CAD1-FA33-089D-E65E20326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DEE4A-C354-E40F-1CA1-7826782D0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2489C-5ADB-60F2-2794-0E79E236D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ECF0E-BD06-5239-0D61-7E6D9437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66398-33F4-D227-19BD-44637C96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E03D5-6D5F-A9B6-97F2-B52C0AAEA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D67BB-F96D-D6EB-7050-EF77AE9A0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AEB37-6F9F-3C15-CA0F-1873A991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56271-388D-C295-725B-A4A1CEB45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83235-8922-4882-1AD4-0F5CABC20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2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5BB9F3-42C6-D4D9-458C-DBC111B3A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671CB-1834-64BD-86F5-C0D6B65D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4C3DC-9EE8-1D57-63D9-490CE413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13B3C-CFC5-74EA-E72C-060085E8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ADD20-A261-3B84-E584-F3E7E2C9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FFF3EC-7FCA-FAF6-3FBA-73472740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F7A53-1C84-3EE8-3A4D-CCC1997EF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9CF1F-57D9-3C06-CAB4-3FEDD3B57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AD6B5-CDD6-2849-8023-24C7F98C569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13D0C-3870-C37C-4C61-D055EEE95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36B17-3853-47FE-6A56-F574A6727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34A52-80BD-B143-ABD5-2119CF43D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2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hyperlink" Target="https://share.google/jLL4oyvn13ZUMASpw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.png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228" y="0"/>
            <a:ext cx="9857772" cy="2908139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latin typeface="Abadi" panose="020B0604020104020204" pitchFamily="34" charset="77"/>
              </a:rPr>
            </a:br>
            <a:br>
              <a:rPr lang="en-US" sz="4000" dirty="0">
                <a:latin typeface="Abadi" panose="020B0604020104020204" pitchFamily="34" charset="77"/>
              </a:rPr>
            </a:br>
            <a:r>
              <a:rPr lang="en-US" sz="3100" b="1" dirty="0">
                <a:latin typeface="Abadi" panose="020B0604020104020204" pitchFamily="34" charset="77"/>
              </a:rPr>
              <a:t>Gender Responsive Budgeting in Practice: Focus on Nigeria and Selected Developing Countries. </a:t>
            </a:r>
            <a:br>
              <a:rPr lang="en-US" sz="3100" b="1" dirty="0">
                <a:latin typeface="Abadi" panose="020B0604020104020204" pitchFamily="34" charset="77"/>
              </a:rPr>
            </a:br>
            <a:br>
              <a:rPr lang="en-US" sz="3100" dirty="0">
                <a:latin typeface="Abadi" panose="020B0604020104020204" pitchFamily="34" charset="77"/>
              </a:rPr>
            </a:br>
            <a:r>
              <a:rPr lang="en-US" sz="3100" dirty="0">
                <a:latin typeface="Abadi" panose="020B0604020104020204" pitchFamily="34" charset="77"/>
              </a:rPr>
              <a:t>Bola Akanji and Funmi </a:t>
            </a:r>
            <a:r>
              <a:rPr lang="en-US" sz="3100" dirty="0" err="1">
                <a:latin typeface="Abadi" panose="020B0604020104020204" pitchFamily="34" charset="77"/>
              </a:rPr>
              <a:t>Soetan</a:t>
            </a:r>
            <a:r>
              <a:rPr lang="en-US" sz="3100" dirty="0">
                <a:latin typeface="Abadi" panose="020B0604020104020204" pitchFamily="34" charset="77"/>
              </a:rPr>
              <a:t>, (eds)</a:t>
            </a:r>
            <a:r>
              <a:rPr lang="en-US" sz="4000" dirty="0">
                <a:latin typeface="Abadi" panose="020B0604020104020204" pitchFamily="34" charset="77"/>
              </a:rPr>
              <a:t> </a:t>
            </a:r>
            <a:br>
              <a:rPr lang="en-US" sz="4000" dirty="0">
                <a:latin typeface="Abadi" panose="020B0604020104020204" pitchFamily="34" charset="77"/>
              </a:rPr>
            </a:br>
            <a:r>
              <a:rPr lang="en-US" sz="4000" dirty="0">
                <a:latin typeface="Abadi" panose="020B0604020104020204" pitchFamily="34" charset="77"/>
                <a:hlinkClick r:id="rId4"/>
              </a:rPr>
              <a:t>https://share.google/jLL4oyvn13ZUMASpw</a:t>
            </a:r>
            <a:br>
              <a:rPr lang="en-US" sz="4000" dirty="0">
                <a:latin typeface="Abadi" panose="020B0604020104020204" pitchFamily="34" charset="77"/>
              </a:rPr>
            </a:br>
            <a:endParaRPr lang="en-US" sz="4000" dirty="0">
              <a:latin typeface="Abadi" panose="020B0604020104020204" pitchFamily="34" charset="77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08139"/>
            <a:ext cx="9144000" cy="234966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 Book Talk of the African Feminist Initiatives (AFI)</a:t>
            </a:r>
          </a:p>
          <a:p>
            <a:r>
              <a:rPr lang="en-US" b="1" dirty="0">
                <a:solidFill>
                  <a:srgbClr val="FF0000"/>
                </a:solidFill>
              </a:rPr>
              <a:t>Penn State University, USA</a:t>
            </a:r>
          </a:p>
          <a:p>
            <a:r>
              <a:rPr lang="en-US" b="1" dirty="0"/>
              <a:t>Bola Akanji, </a:t>
            </a:r>
            <a:r>
              <a:rPr lang="en-US" b="1" dirty="0" err="1"/>
              <a:t>Ph.D</a:t>
            </a:r>
            <a:endParaRPr lang="en-US" b="1" dirty="0"/>
          </a:p>
          <a:p>
            <a:r>
              <a:rPr lang="en-US" dirty="0"/>
              <a:t>Adjunct Faculty, Quinnipiac University, Hamden, Connecticut;</a:t>
            </a:r>
          </a:p>
          <a:p>
            <a:r>
              <a:rPr lang="en-US" dirty="0"/>
              <a:t>Consultant and Independent Scholar, Gender, Agriculture and International Development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89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492"/>
    </mc:Choice>
    <mc:Fallback>
      <p:transition spd="slow" advTm="414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734219-1431-733A-C252-6528A1A9A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98"/>
            <a:ext cx="12075886" cy="669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8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25E8-99F4-97F8-B333-894A34370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492763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Part 1: </a:t>
            </a:r>
            <a:r>
              <a:rPr lang="en-US" b="1" dirty="0"/>
              <a:t>Rationale and Justification for GRBs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Part 2: </a:t>
            </a:r>
            <a:r>
              <a:rPr lang="en-US" b="1" dirty="0"/>
              <a:t>Nigeria’s experiences of GRB between 2000 and 2020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Part 3: </a:t>
            </a:r>
            <a:r>
              <a:rPr lang="en-US" b="1" dirty="0"/>
              <a:t>Cross country examples of GRB experience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Epilogue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Lessons Learnt and what needs to change</a:t>
            </a:r>
          </a:p>
        </p:txBody>
      </p:sp>
    </p:spTree>
    <p:extLst>
      <p:ext uri="{BB962C8B-B14F-4D97-AF65-F5344CB8AC3E}">
        <p14:creationId xmlns:p14="http://schemas.microsoft.com/office/powerpoint/2010/main" val="940809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577B-F5C8-31AA-9EA6-E9C836F26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8572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r>
              <a:rPr lang="en-US" sz="3200" b="1" dirty="0"/>
              <a:t>Part 1: Rationale for GRBs in Africa - Its importance to the achievement of Africa’s Development Agenda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20BD7-C4DB-7D17-BC4A-0C0930CF7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45" y="839096"/>
            <a:ext cx="11632557" cy="60189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Gender profiles the productive sectors show significant gender gaps - agriculture, trade (including cross border trade), employment, informal sector enterprises, finance, technology </a:t>
            </a:r>
            <a:r>
              <a:rPr lang="en-US" sz="2400" b="1" dirty="0" err="1">
                <a:solidFill>
                  <a:srgbClr val="FF0000"/>
                </a:solidFill>
              </a:rPr>
              <a:t>etc</a:t>
            </a:r>
            <a:endParaRPr lang="en-US" sz="2400" b="1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Expenditure on closing gender gaps have been clearly linked to economy-wide benefits such as GDP growth - greater revenue flow from women’s paid work especially when productivity growth is enabled; and hidden economic and social benefits from women’s unpaid work to the formal sector.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Budgeting for gender equality is not just a women’s issue; it is smart economics. (IMF studies in the last 10 years have sought to prove this) – encouraging expenditures (budgetary allocation to women’s empowerment etc. </a:t>
            </a:r>
            <a:r>
              <a:rPr lang="en-US" sz="2400" b="1" dirty="0"/>
              <a:t>GRB is smart economics, not largess to women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</a:rPr>
              <a:t>The “financing development” concept – evolved during MDGs. </a:t>
            </a:r>
            <a:r>
              <a:rPr lang="en-US" sz="2400" dirty="0"/>
              <a:t>Not just about setting policy goals and programme development; rather a systematic way to ensure that proposed interventions to achieve each of the MDGs were implemented through funding mechanisms;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Achievement of many SDGs goals are linked with related gender gaps that need to reduce.</a:t>
            </a:r>
          </a:p>
        </p:txBody>
      </p:sp>
    </p:spTree>
    <p:extLst>
      <p:ext uri="{BB962C8B-B14F-4D97-AF65-F5344CB8AC3E}">
        <p14:creationId xmlns:p14="http://schemas.microsoft.com/office/powerpoint/2010/main" val="30283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8A2C-F6EE-AD9E-91C0-3BBF0938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777" y="86062"/>
            <a:ext cx="10515600" cy="925158"/>
          </a:xfrm>
        </p:spPr>
        <p:txBody>
          <a:bodyPr>
            <a:normAutofit/>
          </a:bodyPr>
          <a:lstStyle/>
          <a:p>
            <a:r>
              <a:rPr lang="en-US" sz="3600" b="1" dirty="0"/>
              <a:t>Part 1: Justification for GRBs in developing countries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88797-1D9E-543F-7EF2-C5D5EDC53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213" y="1011220"/>
            <a:ext cx="11381591" cy="57607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Participatory Development: </a:t>
            </a:r>
            <a:r>
              <a:rPr lang="en-US" dirty="0"/>
              <a:t>GRB is a form of participatory budgeting and promotes Good governance. The GRB template can be used by other marginalized groups to demand their right to development financing in the name of </a:t>
            </a:r>
            <a:r>
              <a:rPr lang="en-US" dirty="0">
                <a:solidFill>
                  <a:srgbClr val="FF0000"/>
                </a:solidFill>
              </a:rPr>
              <a:t>inclusive governance and inclusive development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Strong macroeconomic interlinkages </a:t>
            </a:r>
            <a:r>
              <a:rPr lang="en-US" dirty="0"/>
              <a:t>between gender inequality and economic growth (tax policies, trade policies, fiscal policies, </a:t>
            </a:r>
            <a:r>
              <a:rPr lang="en-US" dirty="0" err="1"/>
              <a:t>etc</a:t>
            </a:r>
            <a:r>
              <a:rPr lang="en-US" dirty="0"/>
              <a:t> are strongly gendered)</a:t>
            </a:r>
          </a:p>
          <a:p>
            <a:r>
              <a:rPr lang="en-US" dirty="0">
                <a:solidFill>
                  <a:srgbClr val="FF0000"/>
                </a:solidFill>
              </a:rPr>
              <a:t>Accountability to Global and African Charters and Declarations:</a:t>
            </a:r>
            <a:r>
              <a:rPr lang="en-US" dirty="0"/>
              <a:t> The call for GRBs feeds into several Covenants: the African Charter on Human Rights; The Solemn Declaration on Gender Equality, the SDGs (especially Goal 5), the Africa Agenda 2063 as well as other global Covenants on Gender Equality. 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Budgeting is political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Rationing occurs where resources are finite or scarce.</a:t>
            </a:r>
            <a:r>
              <a:rPr lang="en-US" dirty="0"/>
              <a:t> In the African context, resources are highly subject to rationing.  Voice and representation at the budget table is key.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Gender equity must be ensured within Public Financial Management systems (PFMs). </a:t>
            </a:r>
            <a:r>
              <a:rPr lang="en-US" dirty="0">
                <a:solidFill>
                  <a:srgbClr val="FF0000"/>
                </a:solidFill>
              </a:rPr>
              <a:t>Only fair representation of both men and women in the economic planning process can ensure the financing of gender equality programs; and inclusive development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546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C38C24-D334-B7A8-FD11-117F3426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90" y="0"/>
            <a:ext cx="11716909" cy="661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6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4545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 GRB must be set within the Policy and Budget Cycles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33" y="645460"/>
            <a:ext cx="5157787" cy="823912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endParaRPr lang="en-US" sz="3400" dirty="0"/>
          </a:p>
          <a:p>
            <a:r>
              <a:rPr lang="en-US" sz="11200" dirty="0">
                <a:solidFill>
                  <a:srgbClr val="FF0000"/>
                </a:solidFill>
              </a:rPr>
              <a:t> The Policy Cycle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201433" y="1731981"/>
            <a:ext cx="5077933" cy="3891849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48709" y="785308"/>
            <a:ext cx="5468010" cy="82391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Budget Cycle. GRB must follow the Budget Cycle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5848709" y="1749069"/>
            <a:ext cx="5506679" cy="3874762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0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03"/>
    </mc:Choice>
    <mc:Fallback xmlns="">
      <p:transition spd="slow" advTm="137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3E5C6C-9C00-6627-CE4B-31C2DB40B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71"/>
            <a:ext cx="11945257" cy="63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9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4579-5F4A-ED4C-6896-920EB0951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810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</a:rPr>
              <a:t>The main conclusions from the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A0F13-214F-7E46-B731-0CD9A76F9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218" y="868100"/>
            <a:ext cx="11458936" cy="58683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Much action but no real traction for GRBs</a:t>
            </a:r>
          </a:p>
          <a:p>
            <a:r>
              <a:rPr lang="en-US" dirty="0">
                <a:solidFill>
                  <a:srgbClr val="FF0000"/>
                </a:solidFill>
              </a:rPr>
              <a:t>Weak links between policies and budgets with regards to gender policies </a:t>
            </a:r>
            <a:r>
              <a:rPr lang="en-US" dirty="0"/>
              <a:t>– implying low priority given to full integration of gender concerns in policies, </a:t>
            </a:r>
            <a:r>
              <a:rPr lang="en-US" b="1" dirty="0"/>
              <a:t>beyond mere policy statements that are often not implemented</a:t>
            </a:r>
          </a:p>
          <a:p>
            <a:r>
              <a:rPr lang="en-US" dirty="0">
                <a:solidFill>
                  <a:srgbClr val="FF0000"/>
                </a:solidFill>
              </a:rPr>
              <a:t>A misunderstanding of what GRB is and what it is NOT </a:t>
            </a:r>
            <a:r>
              <a:rPr lang="en-US" dirty="0"/>
              <a:t>– often seen as crafting budgets for women – rather than promoting evidence-based policy actions for gender equitable policies, programming </a:t>
            </a:r>
            <a:r>
              <a:rPr lang="en-US" b="1" dirty="0"/>
              <a:t>and financing</a:t>
            </a:r>
          </a:p>
          <a:p>
            <a:r>
              <a:rPr lang="en-US" b="1" dirty="0"/>
              <a:t>There is a difference between gender budget analysis (GBA) and Gender Responsive Budgeting (GRB)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A limitation of knowledge on implementation  </a:t>
            </a:r>
            <a:r>
              <a:rPr lang="en-US" dirty="0"/>
              <a:t>– concepts and findings as justification, methodologies and tools, data needs and holistic coverage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Lack of legislative imperatives for integration of structural issues within Public Financial management systems in most countries -  Poor democratic values and failure to adopt </a:t>
            </a:r>
            <a:r>
              <a:rPr lang="en-US" b="1" dirty="0"/>
              <a:t>participatory budgeting as a tool of good governance</a:t>
            </a:r>
          </a:p>
          <a:p>
            <a:r>
              <a:rPr lang="en-US" dirty="0"/>
              <a:t>GRB actions mostly initiated by CSOs, funded by development partners, not supported by governments; gender statistics production often relegated in statutory statistical surveys; not available on sectoral basis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13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49" y="0"/>
            <a:ext cx="11207151" cy="1041722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3600" b="1" dirty="0">
                <a:latin typeface="+mn-lt"/>
              </a:rPr>
            </a:br>
            <a:r>
              <a:rPr lang="en-US" sz="4000" b="1" dirty="0">
                <a:solidFill>
                  <a:srgbClr val="FF0000"/>
                </a:solidFill>
                <a:latin typeface="+mn-lt"/>
              </a:rPr>
              <a:t>Three Critical Success Factors promote traction for GRBs</a:t>
            </a:r>
            <a:endParaRPr lang="en-US" sz="40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068" y="1226916"/>
            <a:ext cx="11110732" cy="4950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/>
              <a:t>Lessons from the cross-country studies</a:t>
            </a:r>
            <a:endParaRPr lang="en-US" sz="4000" dirty="0"/>
          </a:p>
          <a:p>
            <a:r>
              <a:rPr lang="en-US" sz="4000" dirty="0"/>
              <a:t>Is there </a:t>
            </a:r>
            <a:r>
              <a:rPr lang="en-US" sz="4000" dirty="0">
                <a:solidFill>
                  <a:srgbClr val="FF0000"/>
                </a:solidFill>
              </a:rPr>
              <a:t>a policy, institutional and legal framework </a:t>
            </a:r>
            <a:r>
              <a:rPr lang="en-US" sz="4000" dirty="0"/>
              <a:t>for GRB in place?</a:t>
            </a:r>
          </a:p>
          <a:p>
            <a:r>
              <a:rPr lang="en-US" sz="4000" dirty="0"/>
              <a:t>Is GRB action changing the ways that </a:t>
            </a:r>
            <a:r>
              <a:rPr lang="en-US" sz="4000" dirty="0">
                <a:solidFill>
                  <a:srgbClr val="FF0000"/>
                </a:solidFill>
              </a:rPr>
              <a:t>government decisions </a:t>
            </a:r>
            <a:r>
              <a:rPr lang="en-US" sz="4000" dirty="0"/>
              <a:t>are made in fund allocation?</a:t>
            </a:r>
          </a:p>
          <a:p>
            <a:r>
              <a:rPr lang="en-US" sz="4000" dirty="0"/>
              <a:t>Is GRB action leading to (defined) outcomes: </a:t>
            </a:r>
            <a:r>
              <a:rPr lang="en-US" sz="4000" dirty="0">
                <a:solidFill>
                  <a:srgbClr val="FF0000"/>
                </a:solidFill>
              </a:rPr>
              <a:t>positive changes in the situation </a:t>
            </a:r>
            <a:r>
              <a:rPr lang="en-US" sz="4000" dirty="0"/>
              <a:t>of the affected?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26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685"/>
    </mc:Choice>
    <mc:Fallback xmlns="">
      <p:transition spd="slow" advTm="596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B839CA-2303-0CCB-FB62-C0E0E18E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72" y="-1"/>
            <a:ext cx="11936014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3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798</Words>
  <Application>Microsoft Macintosh PowerPoint</Application>
  <PresentationFormat>Widescreen</PresentationFormat>
  <Paragraphs>38</Paragraphs>
  <Slides>11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Abadi</vt:lpstr>
      <vt:lpstr>Aptos</vt:lpstr>
      <vt:lpstr>Aptos Display</vt:lpstr>
      <vt:lpstr>Arial</vt:lpstr>
      <vt:lpstr>Calibri</vt:lpstr>
      <vt:lpstr>Wingdings</vt:lpstr>
      <vt:lpstr>Office Theme</vt:lpstr>
      <vt:lpstr>  Gender Responsive Budgeting in Practice: Focus on Nigeria and Selected Developing Countries.   Bola Akanji and Funmi Soetan, (eds)  https://share.google/jLL4oyvn13ZUMASpw </vt:lpstr>
      <vt:lpstr>PowerPoint Presentation</vt:lpstr>
      <vt:lpstr>Part 1: Rationale and Justification for GRBs Part 2: Nigeria’s experiences of GRB between 2000 and 2020 Part 3: Cross country examples of GRB experience Epilogue Lessons Learnt and what needs to change</vt:lpstr>
      <vt:lpstr> Part 1: Rationale for GRBs in Africa - Its importance to the achievement of Africa’s Development Agenda </vt:lpstr>
      <vt:lpstr>Part 1: Justification for GRBs in developing countries</vt:lpstr>
      <vt:lpstr>PowerPoint Presentation</vt:lpstr>
      <vt:lpstr>A GRB must be set within the Policy and Budget Cycles</vt:lpstr>
      <vt:lpstr>PowerPoint Presentation</vt:lpstr>
      <vt:lpstr>The main conclusions from the volume</vt:lpstr>
      <vt:lpstr> Three Critical Success Factors promote traction for GRBs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Akanji, Boladale O. Prof.</dc:creator>
  <cp:lastModifiedBy>Akanji, Boladale O. Prof.</cp:lastModifiedBy>
  <cp:revision>7</cp:revision>
  <dcterms:created xsi:type="dcterms:W3CDTF">2026-04-10T12:38:03Z</dcterms:created>
  <dcterms:modified xsi:type="dcterms:W3CDTF">2026-04-10T12:52:59Z</dcterms:modified>
</cp:coreProperties>
</file>